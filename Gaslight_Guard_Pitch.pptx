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6C63FF"/>
                </a:solidFill>
              </a:rPr>
              <a:t>GASLIGHT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</a:rPr>
              <a:t>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8046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B0B8C8"/>
                </a:solidFill>
              </a:rPr>
              <a:t>Your AI co-pilot against verbal abuse, gaslighting &amp; confusing slang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6908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38BDF8"/>
                </a:solidFill>
              </a:rPr>
              <a:t>Now as a Chrome Extension  —  reads your emails &amp; WhatsApp Web in real time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663440"/>
            <a:ext cx="5669280" cy="5029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5669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  NLP Mini Hackathon 2026  ·  3-Minute Pitch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41080" y="777240"/>
            <a:ext cx="3200400" cy="5303520"/>
          </a:xfrm>
          <a:prstGeom prst="rect">
            <a:avLst/>
          </a:prstGeom>
          <a:solidFill>
            <a:srgbClr val="1A202C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0" y="1005840"/>
            <a:ext cx="2743200" cy="749808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0" y="1152144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GASLIGHTING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0" y="1901952"/>
            <a:ext cx="2743200" cy="749808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204825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SARCASM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2798064"/>
            <a:ext cx="2743200" cy="749808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29443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PASSIVE-AGGRESSION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869680" y="3694176"/>
            <a:ext cx="2743200" cy="749808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3840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SLANG DECODED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869680" y="4590288"/>
            <a:ext cx="2743200" cy="749808"/>
          </a:xfrm>
          <a:prstGeom prst="rect">
            <a:avLst/>
          </a:prstGeom>
          <a:solidFill>
            <a:srgbClr val="4ED98F"/>
          </a:solidFill>
          <a:ln w="12700">
            <a:solidFill>
              <a:srgbClr val="4ED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0" y="47365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SINCERE ✓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Two Real Problems, One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2A8"/>
                </a:solidFill>
              </a:rPr>
              <a:t>Standard NLP misses verbal abuse AND leaves international students lost in translation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577840" cy="5166360"/>
          </a:xfrm>
          <a:prstGeom prst="rect">
            <a:avLst/>
          </a:prstGeom>
          <a:solidFill>
            <a:srgbClr val="201010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57784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Problem 1 — Hidden Verbal Abuse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920240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FFD166"/>
                </a:solidFill>
              </a:rPr>
              <a:t>"Oh wow, you're absolutely brilliant for doing that."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D98F"/>
                </a:solidFill>
              </a:rPr>
              <a:t>DistilBERT-SST2 says: ✓ POSITIVE (99% confidence)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90672"/>
            <a:ext cx="52120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Reality: sarcastic verbal abuse.
The victim is gaslit into doubting their own reality.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384048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840480"/>
            <a:ext cx="4864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1 in 3 students experiences verbal abuse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4224528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" y="4224528"/>
            <a:ext cx="4864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Standard AI sentiment: 0% sarcasm 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608576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608576"/>
            <a:ext cx="4864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Victims shown 'positive' results doubt themselves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325880"/>
            <a:ext cx="5577840" cy="5166360"/>
          </a:xfrm>
          <a:prstGeom prst="rect">
            <a:avLst/>
          </a:prstGeom>
          <a:solidFill>
            <a:srgbClr val="101426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1325880"/>
            <a:ext cx="557784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371600"/>
            <a:ext cx="5394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  Problem 2 — Slang Barrier for International Students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1920240"/>
            <a:ext cx="521208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38BDF8"/>
                </a:solidFill>
              </a:rPr>
              <a:t>"That meeting was such a vibe check lol,
you really said no cap fr fr."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697480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6B6B"/>
                </a:solidFill>
              </a:rPr>
              <a:t>International student: ??? — is this positive? Negative? Sarcastic?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4612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56832" y="3246120"/>
            <a:ext cx="4864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5.5M+ international students globally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630168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56832" y="3630168"/>
            <a:ext cx="4864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Slang appears in emails, WhatsApp, Slack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14216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4014216"/>
            <a:ext cx="4864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Tone &amp; intent lost without cultural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398264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56832" y="4398264"/>
            <a:ext cx="48646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No real-time, in-context slang decoder exists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Solution — Chrome Extension + NLP Backend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2A8"/>
                </a:solidFill>
              </a:rPr>
              <a:t>Runs silently on Gmail, WhatsApp Web, Outlook — highlights abuse &amp; explains slang inline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89888"/>
            <a:ext cx="1737360" cy="1005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517904"/>
            <a:ext cx="173736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Gmail /
WhatsApp Web</a:t>
            </a:r>
          </a:p>
        </p:txBody>
      </p:sp>
      <p:sp>
        <p:nvSpPr>
          <p:cNvPr id="8" name="Rectangle 7"/>
          <p:cNvSpPr/>
          <p:nvPr/>
        </p:nvSpPr>
        <p:spPr>
          <a:xfrm>
            <a:off x="2331720" y="1389888"/>
            <a:ext cx="1737360" cy="10058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517904"/>
            <a:ext cx="173736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Chrome
Extension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1389888"/>
            <a:ext cx="1737360" cy="1005840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17904"/>
            <a:ext cx="173736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FastAPI
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389888"/>
            <a:ext cx="1737360" cy="10058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517904"/>
            <a:ext cx="173736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RoBERTa
+ Rules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389888"/>
            <a:ext cx="1737360" cy="1005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517904"/>
            <a:ext cx="173736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Slang
Decoder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332720" y="1389888"/>
            <a:ext cx="1737360" cy="1005840"/>
          </a:xfrm>
          <a:prstGeom prst="rect">
            <a:avLst/>
          </a:prstGeom>
          <a:solidFill>
            <a:srgbClr val="4ED98F"/>
          </a:solidFill>
          <a:ln w="12700">
            <a:solidFill>
              <a:srgbClr val="4ED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332720" y="1517904"/>
            <a:ext cx="1737360" cy="877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Inline
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29968" y="1636776"/>
            <a:ext cx="201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7368" y="1636776"/>
            <a:ext cx="201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44768" y="1636776"/>
            <a:ext cx="201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1636776"/>
            <a:ext cx="201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59568" y="1636776"/>
            <a:ext cx="20116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251460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8A92A8"/>
                </a:solidFill>
              </a:rPr>
              <a:t>Real-time · No page reload · Works on-device popup · Privacy-first (text never stored)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297180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63FF"/>
                </a:solidFill>
              </a:rPr>
              <a:t>Extension Capabilities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401568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" y="3401568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Highlights abuse sentences in Gmail / WhatsApp Web with colour-coded badges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3785616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" y="3785616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Hover tooltip explains detected pattern + confidence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" y="4169664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" y="4169664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Slang dictionary: hover over slang → plain-English definition + cultural context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4553712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" y="4553712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Conversation window: flags persistent gaslighting across 5+ messages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" y="493776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" y="4937760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One-click coping strategies, crisis hotlines, and suggested replies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" y="5321808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" y="5321808"/>
            <a:ext cx="52303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International student mode: tone/intent rating (positive / sarcastic / hostile)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17920" y="2926080"/>
            <a:ext cx="5577840" cy="3474720"/>
          </a:xfrm>
          <a:prstGeom prst="rect">
            <a:avLst/>
          </a:prstGeom>
          <a:solidFill>
            <a:srgbClr val="1A20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0" y="3090672"/>
            <a:ext cx="5212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Slang Decoder Module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352044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no cap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635240" y="352044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Seriously / not joking (Gen-Z affirmation)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397764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vibe check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97764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Assessing the mood or atmosphere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46520" y="443484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fr fr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443484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For real — strong agreement/emphasis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46520" y="489204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lowkey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489204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Secretly / moderately (understated)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534924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slay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534924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Performing exceptionally well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46520" y="5806440"/>
            <a:ext cx="1143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8BDF8"/>
                </a:solidFill>
              </a:rPr>
              <a:t>ghosting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5806440"/>
            <a:ext cx="4023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Suddenly ignoring someone / going silent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0" y="59161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8A92A8"/>
                </a:solidFill>
              </a:rPr>
              <a:t>→ 500+ slang entries · cultural origin · tone indicator · example sentence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NLP Approach — Hybrid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2A8"/>
                </a:solidFill>
              </a:rPr>
              <a:t>Fine-tuned RoBERTa-base + rule-based patterns + slang lexicon, blended for robustness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828800" cy="1005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90472"/>
            <a:ext cx="182880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Input Text
(email / chat)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371600"/>
            <a:ext cx="1828800" cy="1005840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1490472"/>
            <a:ext cx="182880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Tokenizer
(RoBERTa)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371600"/>
            <a:ext cx="1828800" cy="100584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06240" y="1490472"/>
            <a:ext cx="182880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Fine-tuned
RoBERTa-base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371600"/>
            <a:ext cx="1828800" cy="1005840"/>
          </a:xfrm>
          <a:prstGeom prst="rect">
            <a:avLst/>
          </a:prstGeom>
          <a:solidFill>
            <a:srgbClr val="1A202C"/>
          </a:solidFill>
          <a:ln w="12700">
            <a:solidFill>
              <a:srgbClr val="1A2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490472"/>
            <a:ext cx="182880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Rule-Based
Pattern Engine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1828800" cy="1005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490472"/>
            <a:ext cx="182880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Slang
Lexicon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04120" y="1371600"/>
            <a:ext cx="1828800" cy="1005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04120" y="1490472"/>
            <a:ext cx="182880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Blend &amp;
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21408" y="1618488"/>
            <a:ext cx="18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87368" y="1618488"/>
            <a:ext cx="18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53328" y="1618488"/>
            <a:ext cx="18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19288" y="1618488"/>
            <a:ext cx="18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85248" y="1618488"/>
            <a:ext cx="182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6C63FF"/>
                </a:solidFill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2487168"/>
            <a:ext cx="9144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8A92A8"/>
                </a:solidFill>
              </a:rPr>
              <a:t>85% model + 15% rules (fine-tuned)  |  70% model + 30% rules (zero-shot fallback)  |  Slang: pattern-matched lexicon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" y="2926080"/>
            <a:ext cx="2194560" cy="1371600"/>
          </a:xfrm>
          <a:prstGeom prst="rect">
            <a:avLst/>
          </a:prstGeom>
          <a:solidFill>
            <a:srgbClr val="1A202C"/>
          </a:solidFill>
          <a:ln w="25400">
            <a:solidFill>
              <a:srgbClr val="4ED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28600" y="2926080"/>
            <a:ext cx="2194560" cy="347472"/>
          </a:xfrm>
          <a:prstGeom prst="rect">
            <a:avLst/>
          </a:prstGeom>
          <a:solidFill>
            <a:srgbClr val="4ED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297180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Sincere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3328416"/>
            <a:ext cx="20116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Genuine, healthy communication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60320" y="2926080"/>
            <a:ext cx="2194560" cy="1371600"/>
          </a:xfrm>
          <a:prstGeom prst="rect">
            <a:avLst/>
          </a:prstGeom>
          <a:solidFill>
            <a:srgbClr val="1A202C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560320" y="2926080"/>
            <a:ext cx="2194560" cy="3474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60320" y="297180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Sarcastic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51760" y="3328416"/>
            <a:ext cx="20116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Positive words, hidden negative intent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92040" y="2926080"/>
            <a:ext cx="2194560" cy="1371600"/>
          </a:xfrm>
          <a:prstGeom prst="rect">
            <a:avLst/>
          </a:prstGeom>
          <a:solidFill>
            <a:srgbClr val="1A202C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892040" y="2926080"/>
            <a:ext cx="2194560" cy="3474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92040" y="297180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Passive-Aggressive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3328416"/>
            <a:ext cx="20116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Indirect hostility masked as politeness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60" y="2926080"/>
            <a:ext cx="2194560" cy="1371600"/>
          </a:xfrm>
          <a:prstGeom prst="rect">
            <a:avLst/>
          </a:prstGeom>
          <a:solidFill>
            <a:srgbClr val="1A202C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223760" y="2926080"/>
            <a:ext cx="2194560" cy="3474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23760" y="297180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Gaslighting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0" y="3328416"/>
            <a:ext cx="20116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Language designed to distort reality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555480" y="2926080"/>
            <a:ext cx="2194560" cy="1371600"/>
          </a:xfrm>
          <a:prstGeom prst="rect">
            <a:avLst/>
          </a:prstGeom>
          <a:solidFill>
            <a:srgbClr val="1A202C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555480" y="2926080"/>
            <a:ext cx="219456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55480" y="2971800"/>
            <a:ext cx="219456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Slang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46920" y="3328416"/>
            <a:ext cx="201168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Non-standard / informal expression decoded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4434840"/>
            <a:ext cx="12188952" cy="2194560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11480" y="455371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Training Details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495604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Model: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17320" y="49560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roberta-base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25112" y="495604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Epochs: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330952" y="49560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4  ·  LR 2e-5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38744" y="495604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Batch: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44584" y="495604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16  ·  MaxLen 128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" y="536752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Data: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17320" y="53675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tweet_eval/irony (~4.6k) + 215 hand-labelled examples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25112" y="536752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Class cap: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30952" y="53675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1,200 per class  ·  Macro-F1 primary metric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238744" y="5367528"/>
            <a:ext cx="1051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</a:rPr>
              <a:t>Slang data: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244584" y="5367528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500+ lexicon entries + Urban Dictionary API (planned)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Evaluation #1 — Sarcastic Sentiment Flip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2A8"/>
                </a:solidFill>
              </a:rPr>
              <a:t>Stress test: do positive-worded insults get flagged as Sarcastic — not Sincere?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303520" cy="5212080"/>
          </a:xfrm>
          <a:prstGeom prst="rect">
            <a:avLst/>
          </a:prstGeom>
          <a:solidFill>
            <a:srgbClr val="1A202C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63FF"/>
                </a:solidFill>
              </a:rPr>
              <a:t>Test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92807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10 sarcastic phrases disguised as compliments — all should → Sarcastic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166"/>
                </a:solidFill>
              </a:rPr>
              <a:t>"Oh wow, you're absolutely brilliant for doing that."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89504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8950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166"/>
                </a:solidFill>
              </a:rPr>
              <a:t>"Great job breaking everything again."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401568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01568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166"/>
                </a:solidFill>
              </a:rPr>
              <a:t>"What a fantastic idea — I'm sure it'll work out."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3913632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4.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913632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166"/>
                </a:solidFill>
              </a:rPr>
              <a:t>"Oh totally, because that makes so much sense."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425696"/>
            <a:ext cx="274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5.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425696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166"/>
                </a:solidFill>
              </a:rPr>
              <a:t>"Sure, because you always know best."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0292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D98F"/>
                </a:solidFill>
              </a:rPr>
              <a:t>Pass threshold: ≥ 70% accuracy
Metric: classification accuracy on sarcasm vs. sincere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325880"/>
            <a:ext cx="5897880" cy="5212080"/>
          </a:xfrm>
          <a:prstGeom prst="rect">
            <a:avLst/>
          </a:prstGeom>
          <a:solidFill>
            <a:srgbClr val="1A202C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148132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63FF"/>
                </a:solidFill>
              </a:rPr>
              <a:t>Results — Sarcasm Flip Test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1993392"/>
            <a:ext cx="5486400" cy="1280160"/>
          </a:xfrm>
          <a:prstGeom prst="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208483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DistilBERT-SST2 (baseline)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496312"/>
            <a:ext cx="4389120" cy="274320"/>
          </a:xfrm>
          <a:prstGeom prst="rect">
            <a:avLst/>
          </a:prstGeom>
          <a:solidFill>
            <a:srgbClr val="25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71632" y="249631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6B"/>
                </a:solidFill>
              </a:rPr>
              <a:t>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60" y="286207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8"/>
                </a:solidFill>
              </a:rPr>
              <a:t>FAIL — all labelled POSITIVE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456432"/>
            <a:ext cx="5486400" cy="1280160"/>
          </a:xfrm>
          <a:prstGeom prst="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54787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Zero-shot MNLI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959352"/>
            <a:ext cx="4389120" cy="274320"/>
          </a:xfrm>
          <a:prstGeom prst="rect">
            <a:avLst/>
          </a:prstGeom>
          <a:solidFill>
            <a:srgbClr val="25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3959352"/>
            <a:ext cx="3511296" cy="27432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71632" y="395935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166"/>
                </a:solidFill>
              </a:rPr>
              <a:t>80%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32511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8"/>
                </a:solidFill>
              </a:rPr>
              <a:t>PASS — detects hidden sarcasm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4919472"/>
            <a:ext cx="5486400" cy="1280160"/>
          </a:xfrm>
          <a:prstGeom prst="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501091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Fine-tuned RoBERTa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09360" y="5422392"/>
            <a:ext cx="4389120" cy="274320"/>
          </a:xfrm>
          <a:prstGeom prst="rect">
            <a:avLst/>
          </a:prstGeom>
          <a:solidFill>
            <a:srgbClr val="252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09360" y="5422392"/>
            <a:ext cx="3730752" cy="274320"/>
          </a:xfrm>
          <a:prstGeom prst="rect">
            <a:avLst/>
          </a:prstGeom>
          <a:solidFill>
            <a:srgbClr val="4ED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771632" y="5422392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ED98F"/>
                </a:solidFill>
              </a:rPr>
              <a:t>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788152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8"/>
                </a:solidFill>
              </a:rPr>
              <a:t>PASS — best on ambiguous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Evaluation #2 — Contextual Consistency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2A8"/>
                </a:solidFill>
              </a:rPr>
              <a:t>Does the model detect persistent toxic patterns across a 5-message conversation window?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25880"/>
            <a:ext cx="5669280" cy="5166360"/>
          </a:xfrm>
          <a:prstGeom prst="rect">
            <a:avLst/>
          </a:prstGeom>
          <a:solidFill>
            <a:srgbClr val="1A202C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4813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Sample WhatsApp / Email Thread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93392"/>
            <a:ext cx="5212080" cy="713232"/>
          </a:xfrm>
          <a:prstGeom prst="rect">
            <a:avLst/>
          </a:prstGeom>
          <a:solidFill>
            <a:srgbClr val="16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93392"/>
            <a:ext cx="201168" cy="7132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06654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8"/>
                </a:solidFill>
              </a:rPr>
              <a:t>You're being way too sensitive again.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37760" y="2157984"/>
            <a:ext cx="777240" cy="3474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37760" y="215798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Gaslighting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816352"/>
            <a:ext cx="5212080" cy="713232"/>
          </a:xfrm>
          <a:prstGeom prst="rect">
            <a:avLst/>
          </a:prstGeom>
          <a:solidFill>
            <a:srgbClr val="16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816352"/>
            <a:ext cx="201168" cy="7132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288950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8"/>
                </a:solidFill>
              </a:rPr>
              <a:t>I never said that — you imagined it.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37760" y="2980944"/>
            <a:ext cx="777240" cy="3474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7760" y="298094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Gaslighting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639312"/>
            <a:ext cx="5212080" cy="713232"/>
          </a:xfrm>
          <a:prstGeom prst="rect">
            <a:avLst/>
          </a:prstGeom>
          <a:solidFill>
            <a:srgbClr val="16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639312"/>
            <a:ext cx="201168" cy="7132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371246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8"/>
                </a:solidFill>
              </a:rPr>
              <a:t>Everyone agrees you overreact.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37760" y="3803904"/>
            <a:ext cx="777240" cy="34747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37760" y="380390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Gaslighting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462272"/>
            <a:ext cx="5212080" cy="713232"/>
          </a:xfrm>
          <a:prstGeom prst="rect">
            <a:avLst/>
          </a:prstGeom>
          <a:solidFill>
            <a:srgbClr val="16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62272"/>
            <a:ext cx="201168" cy="7132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" y="453542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8"/>
                </a:solidFill>
              </a:rPr>
              <a:t>Fine. Whatever. Don't worry about me.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4626864"/>
            <a:ext cx="777240" cy="34747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462686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Passive-Agg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285232"/>
            <a:ext cx="5212080" cy="713232"/>
          </a:xfrm>
          <a:prstGeom prst="rect">
            <a:avLst/>
          </a:prstGeom>
          <a:solidFill>
            <a:srgbClr val="161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5285232"/>
            <a:ext cx="201168" cy="7132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1248" y="5358384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0B8C8"/>
                </a:solidFill>
              </a:rPr>
              <a:t>I just want you to be happy — you know that.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5449824"/>
            <a:ext cx="777240" cy="34747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937760" y="5449824"/>
            <a:ext cx="777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Sarcastic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1325880"/>
            <a:ext cx="5486400" cy="5166360"/>
          </a:xfrm>
          <a:prstGeom prst="rect">
            <a:avLst/>
          </a:prstGeom>
          <a:solidFill>
            <a:srgbClr val="1A202C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92240" y="148132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C63FF"/>
                </a:solidFill>
              </a:rPr>
              <a:t>Chrome Extension Audit Output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92240" y="2029968"/>
            <a:ext cx="5120640" cy="896112"/>
          </a:xfrm>
          <a:prstGeom prst="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92240" y="2029968"/>
            <a:ext cx="182880" cy="896112"/>
          </a:xfrm>
          <a:prstGeom prst="rect">
            <a:avLst/>
          </a:prstGeom>
          <a:solidFill>
            <a:srgbClr val="4ED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0" y="212140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Persistent Pattern Detected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66560" y="250545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≥ 2 toxic messages in window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92240" y="3054096"/>
            <a:ext cx="5120640" cy="896112"/>
          </a:xfrm>
          <a:prstGeom prst="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92240" y="3054096"/>
            <a:ext cx="182880" cy="89611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66560" y="314553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Escalation Flagged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352958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3 of last 3 messages toxic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078224"/>
            <a:ext cx="5120640" cy="896112"/>
          </a:xfrm>
          <a:prstGeom prst="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92240" y="4078224"/>
            <a:ext cx="182880" cy="89611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766560" y="416966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Severity: HIGH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45537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4 / 5 messages = abuse pattern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5102352"/>
            <a:ext cx="5120640" cy="896112"/>
          </a:xfrm>
          <a:prstGeom prst="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5102352"/>
            <a:ext cx="182880" cy="89611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66560" y="519379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Dominant Tactic: Gaslighting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66560" y="557784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3 of 4 toxic messages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92240" y="5614416"/>
            <a:ext cx="530352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D166"/>
                </a:solidFill>
              </a:rPr>
              <a:t>Single-message alone: LOW confidence on message 5
Context window: HIGH severity alert triggered — this is the critical difference.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Held-Out Test Set — Per-Class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2A8"/>
                </a:solidFill>
              </a:rPr>
              <a:t>60 unseen examples (15 per class)  ·  Macro-F1 primary  ·  Accuracy secondary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103120" cy="8686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8074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~0.71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85623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Macro-F1</a:t>
            </a:r>
          </a:p>
        </p:txBody>
      </p:sp>
      <p:sp>
        <p:nvSpPr>
          <p:cNvPr id="9" name="Rectangle 8"/>
          <p:cNvSpPr/>
          <p:nvPr/>
        </p:nvSpPr>
        <p:spPr>
          <a:xfrm>
            <a:off x="2624328" y="1325880"/>
            <a:ext cx="2103120" cy="868680"/>
          </a:xfrm>
          <a:prstGeom prst="rect">
            <a:avLst/>
          </a:prstGeom>
          <a:solidFill>
            <a:srgbClr val="4ED98F"/>
          </a:solidFill>
          <a:ln w="12700">
            <a:solidFill>
              <a:srgbClr val="4ED9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4328" y="138074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~74%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24328" y="185623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Accuracy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28616" y="1325880"/>
            <a:ext cx="2103120" cy="868680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138074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0.78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185623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Sarcasm 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232904" y="1325880"/>
            <a:ext cx="2103120" cy="86868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32904" y="138074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0.65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2904" y="185623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GL F1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37192" y="1325880"/>
            <a:ext cx="2103120" cy="86868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37192" y="1380744"/>
            <a:ext cx="21031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0.62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37192" y="1856232"/>
            <a:ext cx="2103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PA F1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37744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</a:rPr>
              <a:t>Class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23774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C63FF"/>
                </a:solidFill>
              </a:rPr>
              <a:t>Precision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3774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C63FF"/>
                </a:solidFill>
              </a:rPr>
              <a:t>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3774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C63FF"/>
                </a:solidFill>
              </a:rPr>
              <a:t>F1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19" y="237744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6C63FF"/>
                </a:solidFill>
              </a:rPr>
              <a:t>Support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2761488"/>
            <a:ext cx="1152144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2852928"/>
            <a:ext cx="11521440" cy="621792"/>
          </a:xfrm>
          <a:prstGeom prst="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2852928"/>
            <a:ext cx="137160" cy="621792"/>
          </a:xfrm>
          <a:prstGeom prst="rect">
            <a:avLst/>
          </a:prstGeom>
          <a:solidFill>
            <a:srgbClr val="4ED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971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Sincere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77440" y="2971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0.81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971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0.87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2971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0.84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19" y="29718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0040" y="3538728"/>
            <a:ext cx="11521440" cy="621792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20040" y="3538728"/>
            <a:ext cx="137160" cy="62179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6576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Sarcastic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77440" y="3657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0.76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3657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0.80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657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0.78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19" y="36576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224528"/>
            <a:ext cx="11521440" cy="621792"/>
          </a:xfrm>
          <a:prstGeom prst="rect">
            <a:avLst/>
          </a:prstGeom>
          <a:solidFill>
            <a:srgbClr val="14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4224528"/>
            <a:ext cx="137160" cy="6217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48640" y="43434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Passive-Aggressive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77440" y="4343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0.65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4343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0.60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4343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0.62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61119" y="43434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4910328"/>
            <a:ext cx="11521440" cy="621792"/>
          </a:xfrm>
          <a:prstGeom prst="rect">
            <a:avLst/>
          </a:prstGeom>
          <a:solidFill>
            <a:srgbClr val="1A2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4910328"/>
            <a:ext cx="137160" cy="6217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50292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Gaslighting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77440" y="5029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0.67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0" y="5029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0.63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66560" y="5029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0.65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61119" y="502920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5760" y="5669280"/>
            <a:ext cx="11521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8A92A8"/>
                </a:solidFill>
              </a:rPr>
              <a:t>Why two metrics? Accuracy misleads on imbalanced classes. Macro-F1 treats each class equally — critical when false negatives (missed abuse) carry real harm.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Evaluation Reveals Limitations → Guides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804672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8A92A8"/>
                </a:solidFill>
              </a:rPr>
              <a:t>Every metric failure becomes a concrete engineering action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" y="1325880"/>
            <a:ext cx="2743200" cy="5212080"/>
          </a:xfrm>
          <a:prstGeom prst="rect">
            <a:avLst/>
          </a:prstGeom>
          <a:solidFill>
            <a:srgbClr val="1A202C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" y="1325880"/>
            <a:ext cx="2743200" cy="457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38988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①  Class Imbalance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" y="1874519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Evaluation revealed: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" y="2231136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8C8"/>
                </a:solidFill>
              </a:rPr>
              <a:t>Epoch 1: PA F1=0.00, GL F1=0.00
Model defaults to 'Sincere' (high recall, 0 precision on minority)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3192" y="3200400"/>
            <a:ext cx="246888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3192" y="329184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Improvement actions: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" y="3703320"/>
            <a:ext cx="73152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3703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Class-weighted loss: 10× for PA &amp; GL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" y="4343400"/>
            <a:ext cx="73152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Collect 500+ real-world Reddit examples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624" y="4983480"/>
            <a:ext cx="73152" cy="47548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Macro-F1 as primary — accuracy is misleading here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1325880"/>
            <a:ext cx="2743200" cy="5212080"/>
          </a:xfrm>
          <a:prstGeom prst="rect">
            <a:avLst/>
          </a:prstGeom>
          <a:solidFill>
            <a:srgbClr val="1A202C"/>
          </a:solidFill>
          <a:ln w="25400">
            <a:solidFill>
              <a:srgbClr val="FFD1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60" y="1325880"/>
            <a:ext cx="2743200" cy="457200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0" y="138988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②  Boundary Confusion
(Sarcasm ↔ PA)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1874519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166"/>
                </a:solidFill>
              </a:rPr>
              <a:t>Evaluation revealed: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2231136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8C8"/>
                </a:solidFill>
              </a:rPr>
              <a:t>~20% of hard cases overlap
Ex: 'Sure, because that makes sense'
→ both Sarcastic &amp; PA plausible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3200400"/>
            <a:ext cx="2468880" cy="274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329184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Improvement actions: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3552" y="3703320"/>
            <a:ext cx="73152" cy="47548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703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Contrastive training pairs (SA vs PA)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73552" y="4343400"/>
            <a:ext cx="73152" cy="47548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19856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Sub-labels: DARVO, feigned indifference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73552" y="4983480"/>
            <a:ext cx="73152" cy="475488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19856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Low-conf threshold → human review flag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61888" y="1325880"/>
            <a:ext cx="2743200" cy="5212080"/>
          </a:xfrm>
          <a:prstGeom prst="rect">
            <a:avLst/>
          </a:prstGeom>
          <a:solidFill>
            <a:srgbClr val="1A202C"/>
          </a:solidFill>
          <a:ln w="254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961888" y="1325880"/>
            <a:ext cx="2743200" cy="4572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53328" y="138988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③  Context Blindness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99048" y="1874519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Evaluation revealed: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99048" y="2231136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8C8"/>
                </a:solidFill>
              </a:rPr>
              <a:t>'I'm fine.' alone → Sincere
Repeated 5× in thread → PA pattern
Single-message misses the escalation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99048" y="3200400"/>
            <a:ext cx="246888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99048" y="329184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Improvement actions: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126480" y="3703320"/>
            <a:ext cx="73152" cy="47548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72784" y="3703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5-message sliding-window audit (built)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4343400"/>
            <a:ext cx="73152" cy="47548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72784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Escalation score from label sequence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26480" y="4983480"/>
            <a:ext cx="73152" cy="47548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72784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Conversational Transformer layer (roadmap)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814816" y="1325880"/>
            <a:ext cx="2743200" cy="5212080"/>
          </a:xfrm>
          <a:prstGeom prst="rect">
            <a:avLst/>
          </a:prstGeom>
          <a:solidFill>
            <a:srgbClr val="1A202C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814816" y="1325880"/>
            <a:ext cx="2743200" cy="457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06256" y="1389888"/>
            <a:ext cx="2560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④  Slang OOV Gap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51976" y="1874519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Evaluation revealed: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51976" y="2231136"/>
            <a:ext cx="24871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0B8C8"/>
                </a:solidFill>
              </a:rPr>
              <a:t>Out-of-vocabulary slang → model unsure
'no cap fr fr' → low confidence label
Gen-Z slang evolves faster than training data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951976" y="3200400"/>
            <a:ext cx="2468880" cy="274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951976" y="3291840"/>
            <a:ext cx="2487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Improvement actions: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79408" y="3703320"/>
            <a:ext cx="73152" cy="4754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25712" y="3703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Urban Dictionary API for live updates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979408" y="4343400"/>
            <a:ext cx="73152" cy="4754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125712" y="4343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Weekly lexicon refresh pipeline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979408" y="4983480"/>
            <a:ext cx="73152" cy="4754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25712" y="4983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C8"/>
                </a:solidFill>
              </a:rPr>
              <a:t>Fallback: slang-specific RoBERTa head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82296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</a:rPr>
              <a:t>Gaslight Guard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8961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0B8C8"/>
                </a:solidFill>
              </a:rPr>
              <a:t>Giving victims validation — and international students clarity — right where they need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164592" cy="7132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2704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NLP-first hybrid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8745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RoBERTa + rule engine beats standard sentiment by 85% on sarcasm 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04872"/>
            <a:ext cx="164592" cy="713232"/>
          </a:xfrm>
          <a:prstGeom prst="rect">
            <a:avLst/>
          </a:prstGeom>
          <a:solidFill>
            <a:srgbClr val="4ED9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2316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Dual evaluation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7063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Stress test + Contextual Audit — two lenses exposing different failure modes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00984"/>
            <a:ext cx="164592" cy="713232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319272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Evaluation → Action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66674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Every metric gap maps to a fix: weighted loss, contrastive pairs, context layer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97096"/>
            <a:ext cx="164592" cy="71323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215384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Chrome Extension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562856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Real-time detection in Gmail, WhatsApp Web — no copy-paste, no friction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093208"/>
            <a:ext cx="164592" cy="7132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111496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Slang + Abuse decoder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458968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C8"/>
                </a:solidFill>
              </a:rPr>
              <a:t>International students finally understand tone AND intent in English conversations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0" y="1325880"/>
            <a:ext cx="2697480" cy="4800600"/>
          </a:xfrm>
          <a:prstGeom prst="rect">
            <a:avLst/>
          </a:prstGeom>
          <a:solidFill>
            <a:srgbClr val="1A202C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481328"/>
            <a:ext cx="2377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6C63FF"/>
                </a:solidFill>
              </a:rPr>
              <a:t>Roadmap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1993392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45752" y="1993392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Chrome extension MVP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237744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2377440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Gmail &amp; WhatsApp Web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2761488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2761488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500+ PA/GL Reddit examples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145536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45752" y="3145536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Conversational LSTM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3529584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45752" y="3529584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Urban Dictionary live API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3913632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45752" y="3913632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DARVO sub-category labels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89720" y="4297680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45752" y="4297680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University pilot (50 users)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4681728"/>
            <a:ext cx="2560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</a:rPr>
              <a:t>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45752" y="4681728"/>
            <a:ext cx="23042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C8"/>
                </a:solidFill>
              </a:rPr>
              <a:t>HuggingFace dataset release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291072"/>
            <a:ext cx="12188952" cy="56692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3093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NLP Mini Hackathon 2026  ·  Gaslight Guard  ·  RoBERTa · FastAPI · React · Chrome Extension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